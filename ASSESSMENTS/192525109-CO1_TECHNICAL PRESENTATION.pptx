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71" r:id="rId8"/>
    <p:sldId id="268" r:id="rId9"/>
    <p:sldId id="269" r:id="rId10"/>
    <p:sldId id="270" r:id="rId11"/>
    <p:sldId id="263" r:id="rId12"/>
    <p:sldId id="264" r:id="rId13"/>
    <p:sldId id="265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066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5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6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25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4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00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4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6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0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28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8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090DE-766C-4F82-9D6E-66211E065BCC}" type="datetimeFigureOut">
              <a:rPr lang="en-US" smtClean="0"/>
              <a:t>02-Aug-26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2D936-9310-42DB-BC82-AD60C6AB0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9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7848600" cy="2228851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Adaptive Emergency Resource Allocation System Using Dynamic Priority Queues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38200" y="381000"/>
            <a:ext cx="7010400" cy="838200"/>
            <a:chOff x="5689663" y="-4376072"/>
            <a:chExt cx="11887073" cy="2954401"/>
          </a:xfrm>
        </p:grpSpPr>
        <p:sp>
          <p:nvSpPr>
            <p:cNvPr id="5" name="Freeform 4" descr="SIMATS ENGINEERING —BIOTECHNOLOGY"/>
            <p:cNvSpPr/>
            <p:nvPr/>
          </p:nvSpPr>
          <p:spPr>
            <a:xfrm>
              <a:off x="5689663" y="-4376072"/>
              <a:ext cx="11887073" cy="2954401"/>
            </a:xfrm>
            <a:custGeom>
              <a:avLst/>
              <a:gdLst/>
              <a:ahLst/>
              <a:cxnLst/>
              <a:rect l="l" t="t" r="r" b="b"/>
              <a:pathLst>
                <a:path w="22961473" h="2954401">
                  <a:moveTo>
                    <a:pt x="0" y="0"/>
                  </a:moveTo>
                  <a:lnTo>
                    <a:pt x="22961473" y="0"/>
                  </a:lnTo>
                  <a:lnTo>
                    <a:pt x="22961473" y="2954401"/>
                  </a:lnTo>
                  <a:lnTo>
                    <a:pt x="0" y="2954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57200" y="4876800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Guided By:                                                                                     Presented By:</a:t>
            </a:r>
            <a:br>
              <a:rPr lang="en-US" dirty="0" smtClean="0"/>
            </a:br>
            <a:r>
              <a:rPr lang="en-US" dirty="0" smtClean="0"/>
              <a:t>     </a:t>
            </a:r>
            <a:r>
              <a:rPr lang="en-US" dirty="0" err="1" smtClean="0"/>
              <a:t>Dr.Kiruthika</a:t>
            </a:r>
            <a:r>
              <a:rPr lang="en-US" dirty="0" smtClean="0"/>
              <a:t>                                                                                    </a:t>
            </a:r>
            <a:r>
              <a:rPr lang="en-US" dirty="0" err="1" smtClean="0"/>
              <a:t>Mallikharjuna</a:t>
            </a:r>
            <a:r>
              <a:rPr lang="en-US" dirty="0" smtClean="0"/>
              <a:t>(192525109)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                             </a:t>
            </a:r>
            <a:r>
              <a:rPr lang="en-US" dirty="0" err="1" smtClean="0"/>
              <a:t>Jeshurun</a:t>
            </a:r>
            <a:r>
              <a:rPr lang="en-US" dirty="0" smtClean="0"/>
              <a:t> Silas(192525324)</a:t>
            </a:r>
            <a:endParaRPr lang="en-US" dirty="0"/>
          </a:p>
          <a:p>
            <a:r>
              <a:rPr lang="en-US" dirty="0" smtClean="0"/>
              <a:t>                                                                                                              </a:t>
            </a:r>
            <a:r>
              <a:rPr lang="en-US" dirty="0" err="1" smtClean="0"/>
              <a:t>Balaji</a:t>
            </a:r>
            <a:r>
              <a:rPr lang="en-US" dirty="0" smtClean="0"/>
              <a:t>(192525059)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05000" y="3782790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CSA0307-DATA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284389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902" y="1334278"/>
            <a:ext cx="5531498" cy="529512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Gill Sans MT" pitchFamily="34" charset="0"/>
              </a:rPr>
              <a:t>Emergency response systems require quick allocation of limited resources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Dynamic </a:t>
            </a:r>
            <a:r>
              <a:rPr lang="en-US" sz="2400" dirty="0">
                <a:latin typeface="Gill Sans MT" pitchFamily="34" charset="0"/>
              </a:rPr>
              <a:t>Priority Queues help process emergency requests according to severity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Critical </a:t>
            </a:r>
            <a:r>
              <a:rPr lang="en-US" sz="2400" dirty="0">
                <a:latin typeface="Gill Sans MT" pitchFamily="34" charset="0"/>
              </a:rPr>
              <a:t>incidents receive higher priority than normal requests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Resources </a:t>
            </a:r>
            <a:r>
              <a:rPr lang="en-US" sz="2400" dirty="0">
                <a:latin typeface="Gill Sans MT" pitchFamily="34" charset="0"/>
              </a:rPr>
              <a:t>such as ambulances, fire trucks, and police vehicles are allocated efficiently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The </a:t>
            </a:r>
            <a:r>
              <a:rPr lang="en-US" sz="2400" dirty="0">
                <a:latin typeface="Gill Sans MT" pitchFamily="34" charset="0"/>
              </a:rPr>
              <a:t>system minimizes response time and improves public safety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Heap-based </a:t>
            </a:r>
            <a:r>
              <a:rPr lang="en-US" sz="2400" dirty="0">
                <a:latin typeface="Gill Sans MT" pitchFamily="34" charset="0"/>
              </a:rPr>
              <a:t>Priority Queue operations ensure efficient scheduling.</a:t>
            </a:r>
            <a:endParaRPr lang="en-US" sz="2400" dirty="0">
              <a:latin typeface="Gill Sans MT" pitchFamily="34" charset="0"/>
            </a:endParaRPr>
          </a:p>
        </p:txBody>
      </p:sp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utoShape 2" descr="Generated image: Emergency Control Centre at Nigh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 descr="Generated image: Emergency Control Centre at Nigh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54" y="3429000"/>
            <a:ext cx="3351245" cy="1922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916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Gill Sans MT" pitchFamily="34" charset="0"/>
              </a:rPr>
              <a:t>Develop an intelligent emergency management system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Prioritize </a:t>
            </a:r>
            <a:r>
              <a:rPr lang="en-US" sz="2400" dirty="0">
                <a:latin typeface="Gill Sans MT" pitchFamily="34" charset="0"/>
              </a:rPr>
              <a:t>incidents dynamically using Priority Queue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Reduce </a:t>
            </a:r>
            <a:r>
              <a:rPr lang="en-US" sz="2400" dirty="0">
                <a:latin typeface="Gill Sans MT" pitchFamily="34" charset="0"/>
              </a:rPr>
              <a:t>emergency response time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Allocate </a:t>
            </a:r>
            <a:r>
              <a:rPr lang="en-US" sz="2400" dirty="0">
                <a:latin typeface="Gill Sans MT" pitchFamily="34" charset="0"/>
              </a:rPr>
              <a:t>nearest available resource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Improve </a:t>
            </a:r>
            <a:r>
              <a:rPr lang="en-US" sz="2400" dirty="0">
                <a:latin typeface="Gill Sans MT" pitchFamily="34" charset="0"/>
              </a:rPr>
              <a:t>resource utilization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Support </a:t>
            </a:r>
            <a:r>
              <a:rPr lang="en-US" sz="2400" dirty="0">
                <a:latin typeface="Gill Sans MT" pitchFamily="34" charset="0"/>
              </a:rPr>
              <a:t>real-time priority updates.</a:t>
            </a:r>
            <a:endParaRPr lang="en-US" sz="2400" dirty="0">
              <a:latin typeface="Gill Sans MT" pitchFamily="34" charset="0"/>
            </a:endParaRPr>
          </a:p>
        </p:txBody>
      </p:sp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335" y="2667000"/>
            <a:ext cx="3238500" cy="3642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829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Gill Sans MT" pitchFamily="34" charset="0"/>
              </a:rPr>
              <a:t>Manual emergency dispatch delays rescue operations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Resources </a:t>
            </a:r>
            <a:r>
              <a:rPr lang="en-US" sz="2400" dirty="0">
                <a:latin typeface="Gill Sans MT" pitchFamily="34" charset="0"/>
              </a:rPr>
              <a:t>are sometimes assigned inefficiently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Critical </a:t>
            </a:r>
            <a:r>
              <a:rPr lang="en-US" sz="2400" dirty="0">
                <a:latin typeface="Gill Sans MT" pitchFamily="34" charset="0"/>
              </a:rPr>
              <a:t>patients may wait longer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Static </a:t>
            </a:r>
            <a:r>
              <a:rPr lang="en-US" sz="2400" dirty="0">
                <a:latin typeface="Gill Sans MT" pitchFamily="34" charset="0"/>
              </a:rPr>
              <a:t>scheduling cannot handle changing priorities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Existing </a:t>
            </a:r>
            <a:r>
              <a:rPr lang="en-US" sz="2400" dirty="0">
                <a:latin typeface="Gill Sans MT" pitchFamily="34" charset="0"/>
              </a:rPr>
              <a:t>systems lack adaptive resource allocation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A </a:t>
            </a:r>
            <a:r>
              <a:rPr lang="en-US" sz="2400" dirty="0">
                <a:latin typeface="Gill Sans MT" pitchFamily="34" charset="0"/>
              </a:rPr>
              <a:t>Dynamic Priority Queue ensures faster and smarter scheduling.</a:t>
            </a:r>
            <a:endParaRPr lang="en-US" sz="2400" dirty="0">
              <a:latin typeface="Gill Sans MT" pitchFamily="34" charset="0"/>
            </a:endParaRPr>
          </a:p>
        </p:txBody>
      </p:sp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273" y="4191000"/>
            <a:ext cx="3848100" cy="256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5977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" name="Content Placeholder 1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262784"/>
              </p:ext>
            </p:extLst>
          </p:nvPr>
        </p:nvGraphicFramePr>
        <p:xfrm>
          <a:off x="457200" y="1600200"/>
          <a:ext cx="8305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3238500"/>
                <a:gridCol w="1790700"/>
                <a:gridCol w="2514600"/>
              </a:tblGrid>
              <a:tr h="541995">
                <a:tc>
                  <a:txBody>
                    <a:bodyPr/>
                    <a:lstStyle/>
                    <a:p>
                      <a:r>
                        <a:rPr lang="en-US"/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Title of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Publisher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Components / Techniques Used</a:t>
                      </a:r>
                    </a:p>
                  </a:txBody>
                  <a:tcPr anchor="ctr"/>
                </a:tc>
              </a:tr>
              <a:tr h="1006563"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Adaptive Emergency Resource Allocation Using Priority Queue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IEEE,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Priority Queue, Max Heap, Dynamic Scheduling, Emergency Dispatch</a:t>
                      </a:r>
                    </a:p>
                  </a:txBody>
                  <a:tcPr anchor="ctr"/>
                </a:tc>
              </a:tr>
              <a:tr h="774279">
                <a:tc>
                  <a:txBody>
                    <a:bodyPr/>
                    <a:lstStyle/>
                    <a:p>
                      <a:r>
                        <a:rPr lang="en-US" b="1"/>
                        <a:t>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Smart Emergency Response System with Dynamic Resource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Springer,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Dynamic Priority Queue, GPS Tracking, Resource Optimization</a:t>
                      </a:r>
                    </a:p>
                  </a:txBody>
                  <a:tcPr anchor="ctr"/>
                </a:tc>
              </a:tr>
              <a:tr h="774279">
                <a:tc>
                  <a:txBody>
                    <a:bodyPr/>
                    <a:lstStyle/>
                    <a:p>
                      <a:r>
                        <a:rPr lang="en-US" b="1"/>
                        <a:t>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Intelligent Ambulance Dispatch Using Priority-Based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Elsevier,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Binary Heap, Route Optimization, Emergency Management</a:t>
                      </a:r>
                    </a:p>
                  </a:txBody>
                  <a:tcPr anchor="ctr"/>
                </a:tc>
              </a:tr>
              <a:tr h="1006563">
                <a:tc>
                  <a:txBody>
                    <a:bodyPr/>
                    <a:lstStyle/>
                    <a:p>
                      <a:r>
                        <a:rPr lang="en-US" b="1"/>
                        <a:t>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Real-Time Emergency Management System for Smart Cities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ACM Digital Library,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Dynamic Scheduling, </a:t>
                      </a:r>
                      <a:r>
                        <a:rPr lang="en-US" dirty="0" err="1"/>
                        <a:t>IoT</a:t>
                      </a:r>
                      <a:r>
                        <a:rPr lang="en-US" dirty="0"/>
                        <a:t> Sensors, Resource Allocation, Cloud Computing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861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6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Structure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47244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Gill Sans MT" pitchFamily="34" charset="0"/>
              </a:rPr>
              <a:t>Priority Queue</a:t>
            </a:r>
            <a:endParaRPr lang="en-US" sz="2400" dirty="0">
              <a:latin typeface="Gill Sans MT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Gill Sans MT" pitchFamily="34" charset="0"/>
              </a:rPr>
              <a:t>Operations</a:t>
            </a:r>
            <a:endParaRPr lang="en-US" sz="2400" dirty="0">
              <a:latin typeface="Gill Sans MT" pitchFamily="34" charset="0"/>
            </a:endParaRPr>
          </a:p>
          <a:p>
            <a:r>
              <a:rPr lang="en-US" sz="2400" dirty="0">
                <a:latin typeface="Gill Sans MT" pitchFamily="34" charset="0"/>
              </a:rPr>
              <a:t>Insert Emergency </a:t>
            </a:r>
          </a:p>
          <a:p>
            <a:r>
              <a:rPr lang="en-US" sz="2400" dirty="0">
                <a:latin typeface="Gill Sans MT" pitchFamily="34" charset="0"/>
              </a:rPr>
              <a:t>Delete Highest Priority </a:t>
            </a:r>
          </a:p>
          <a:p>
            <a:r>
              <a:rPr lang="en-US" sz="2400" dirty="0">
                <a:latin typeface="Gill Sans MT" pitchFamily="34" charset="0"/>
              </a:rPr>
              <a:t>Update Priority </a:t>
            </a:r>
          </a:p>
          <a:p>
            <a:r>
              <a:rPr lang="en-US" sz="2400" dirty="0">
                <a:latin typeface="Gill Sans MT" pitchFamily="34" charset="0"/>
              </a:rPr>
              <a:t>Peek Highest Priority</a:t>
            </a:r>
          </a:p>
          <a:p>
            <a:r>
              <a:rPr lang="en-US" sz="2400" b="1" dirty="0"/>
              <a:t>Time Complexity</a:t>
            </a:r>
          </a:p>
          <a:p>
            <a:endParaRPr lang="en-US" sz="2400" dirty="0">
              <a:latin typeface="Gill Sans MT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495687"/>
              </p:ext>
            </p:extLst>
          </p:nvPr>
        </p:nvGraphicFramePr>
        <p:xfrm>
          <a:off x="1981200" y="4724400"/>
          <a:ext cx="4064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</a:tblGrid>
              <a:tr h="294640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Complexity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O(log n)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O(log n)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" name="Picture 4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600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MODULE 1: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EMERGENCY REQUEST MANAGEMENT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81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Gill Sans MT" pitchFamily="34" charset="0"/>
              </a:rPr>
              <a:t>Description</a:t>
            </a:r>
          </a:p>
          <a:p>
            <a:r>
              <a:rPr lang="en-US" sz="2400" dirty="0" smtClean="0">
                <a:latin typeface="Gill Sans MT" pitchFamily="34" charset="0"/>
              </a:rPr>
              <a:t>Receive </a:t>
            </a:r>
            <a:r>
              <a:rPr lang="en-US" sz="2400" dirty="0">
                <a:latin typeface="Gill Sans MT" pitchFamily="34" charset="0"/>
              </a:rPr>
              <a:t>emergency requests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Collect </a:t>
            </a:r>
            <a:r>
              <a:rPr lang="en-US" sz="2400" dirty="0">
                <a:latin typeface="Gill Sans MT" pitchFamily="34" charset="0"/>
              </a:rPr>
              <a:t>caller information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Identify </a:t>
            </a:r>
            <a:r>
              <a:rPr lang="en-US" sz="2400" dirty="0">
                <a:latin typeface="Gill Sans MT" pitchFamily="34" charset="0"/>
              </a:rPr>
              <a:t>emergency category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Calculate </a:t>
            </a:r>
            <a:r>
              <a:rPr lang="en-US" sz="2400" dirty="0">
                <a:latin typeface="Gill Sans MT" pitchFamily="34" charset="0"/>
              </a:rPr>
              <a:t>severity level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Store </a:t>
            </a:r>
            <a:r>
              <a:rPr lang="en-US" sz="2400" dirty="0">
                <a:latin typeface="Gill Sans MT" pitchFamily="34" charset="0"/>
              </a:rPr>
              <a:t>requests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Functions</a:t>
            </a:r>
          </a:p>
          <a:p>
            <a:r>
              <a:rPr lang="en-US" sz="2400" dirty="0" smtClean="0">
                <a:latin typeface="Gill Sans MT" pitchFamily="34" charset="0"/>
              </a:rPr>
              <a:t>Register Incident</a:t>
            </a:r>
          </a:p>
          <a:p>
            <a:r>
              <a:rPr lang="en-US" sz="2400" dirty="0" smtClean="0">
                <a:latin typeface="Gill Sans MT" pitchFamily="34" charset="0"/>
              </a:rPr>
              <a:t>Update Emergency</a:t>
            </a:r>
          </a:p>
          <a:p>
            <a:r>
              <a:rPr lang="en-US" sz="2400" dirty="0" smtClean="0">
                <a:latin typeface="Gill Sans MT" pitchFamily="34" charset="0"/>
              </a:rPr>
              <a:t>Assign Priority</a:t>
            </a:r>
          </a:p>
          <a:p>
            <a:r>
              <a:rPr lang="en-US" sz="2400" dirty="0" smtClean="0">
                <a:latin typeface="Gill Sans MT" pitchFamily="34" charset="0"/>
              </a:rPr>
              <a:t>Track </a:t>
            </a:r>
            <a:r>
              <a:rPr lang="en-US" sz="2400" dirty="0">
                <a:latin typeface="Gill Sans MT" pitchFamily="34" charset="0"/>
              </a:rPr>
              <a:t>Request</a:t>
            </a:r>
            <a:endParaRPr lang="en-US" sz="2400" dirty="0">
              <a:latin typeface="Gill Sans MT" pitchFamily="34" charset="0"/>
            </a:endParaRPr>
          </a:p>
        </p:txBody>
      </p:sp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12575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17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MODULE 2: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DYNAMIC PRIORITY QUEUE ENGINE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Gill Sans MT" pitchFamily="34" charset="0"/>
              </a:rPr>
              <a:t>Description</a:t>
            </a:r>
          </a:p>
          <a:p>
            <a:r>
              <a:rPr lang="en-US" sz="2400" dirty="0" smtClean="0">
                <a:latin typeface="Gill Sans MT" pitchFamily="34" charset="0"/>
              </a:rPr>
              <a:t>Store </a:t>
            </a:r>
            <a:r>
              <a:rPr lang="en-US" sz="2400" dirty="0">
                <a:latin typeface="Gill Sans MT" pitchFamily="34" charset="0"/>
              </a:rPr>
              <a:t>all emergency requests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Sort </a:t>
            </a:r>
            <a:r>
              <a:rPr lang="en-US" sz="2400" dirty="0">
                <a:latin typeface="Gill Sans MT" pitchFamily="34" charset="0"/>
              </a:rPr>
              <a:t>requests dynamically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Highest </a:t>
            </a:r>
            <a:r>
              <a:rPr lang="en-US" sz="2400" dirty="0">
                <a:latin typeface="Gill Sans MT" pitchFamily="34" charset="0"/>
              </a:rPr>
              <a:t>priority appears at top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Supports </a:t>
            </a:r>
            <a:r>
              <a:rPr lang="en-US" sz="2400" dirty="0">
                <a:latin typeface="Gill Sans MT" pitchFamily="34" charset="0"/>
              </a:rPr>
              <a:t>insertion and deletion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Updates priorities automatically.</a:t>
            </a:r>
          </a:p>
          <a:p>
            <a:r>
              <a:rPr lang="en-US" sz="2400" b="1" dirty="0" smtClean="0">
                <a:latin typeface="Gill Sans MT" pitchFamily="34" charset="0"/>
              </a:rPr>
              <a:t>Functions</a:t>
            </a:r>
          </a:p>
          <a:p>
            <a:r>
              <a:rPr lang="en-US" sz="2400" dirty="0" smtClean="0">
                <a:latin typeface="Gill Sans MT" pitchFamily="34" charset="0"/>
              </a:rPr>
              <a:t>Insert()</a:t>
            </a:r>
          </a:p>
          <a:p>
            <a:r>
              <a:rPr lang="en-US" sz="2400" dirty="0" err="1" smtClean="0">
                <a:latin typeface="Gill Sans MT" pitchFamily="34" charset="0"/>
              </a:rPr>
              <a:t>DeleteMax</a:t>
            </a:r>
            <a:r>
              <a:rPr lang="en-US" sz="2400" dirty="0" smtClean="0">
                <a:latin typeface="Gill Sans MT" pitchFamily="34" charset="0"/>
              </a:rPr>
              <a:t>()</a:t>
            </a:r>
          </a:p>
          <a:p>
            <a:r>
              <a:rPr lang="en-US" sz="2400" dirty="0" smtClean="0">
                <a:latin typeface="Gill Sans MT" pitchFamily="34" charset="0"/>
              </a:rPr>
              <a:t>Peek()</a:t>
            </a:r>
          </a:p>
          <a:p>
            <a:r>
              <a:rPr lang="en-US" sz="2400" dirty="0" err="1" smtClean="0">
                <a:latin typeface="Gill Sans MT" pitchFamily="34" charset="0"/>
              </a:rPr>
              <a:t>UpdatePriority</a:t>
            </a:r>
            <a:r>
              <a:rPr lang="en-US" sz="2400" dirty="0">
                <a:latin typeface="Gill Sans MT" pitchFamily="34" charset="0"/>
              </a:rPr>
              <a:t>()</a:t>
            </a:r>
            <a:endParaRPr lang="en-US" sz="2400" dirty="0">
              <a:latin typeface="Gill Sans MT" pitchFamily="34" charset="0"/>
            </a:endParaRPr>
          </a:p>
        </p:txBody>
      </p:sp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33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3:RESOURCE ALLOCATION &amp; MONITORING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Gill Sans MT" pitchFamily="34" charset="0"/>
              </a:rPr>
              <a:t>Description</a:t>
            </a:r>
          </a:p>
          <a:p>
            <a:r>
              <a:rPr lang="en-US" sz="2400" dirty="0" smtClean="0">
                <a:latin typeface="Gill Sans MT" pitchFamily="34" charset="0"/>
              </a:rPr>
              <a:t>Allocate </a:t>
            </a:r>
            <a:r>
              <a:rPr lang="en-US" sz="2400" dirty="0">
                <a:latin typeface="Gill Sans MT" pitchFamily="34" charset="0"/>
              </a:rPr>
              <a:t>nearest ambulance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Allocate </a:t>
            </a:r>
            <a:r>
              <a:rPr lang="en-US" sz="2400" dirty="0">
                <a:latin typeface="Gill Sans MT" pitchFamily="34" charset="0"/>
              </a:rPr>
              <a:t>fire truck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Allocate </a:t>
            </a:r>
            <a:r>
              <a:rPr lang="en-US" sz="2400" dirty="0">
                <a:latin typeface="Gill Sans MT" pitchFamily="34" charset="0"/>
              </a:rPr>
              <a:t>police vehicle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Monitor </a:t>
            </a:r>
            <a:r>
              <a:rPr lang="en-US" sz="2400" dirty="0">
                <a:latin typeface="Gill Sans MT" pitchFamily="34" charset="0"/>
              </a:rPr>
              <a:t>resource status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Generate </a:t>
            </a:r>
            <a:r>
              <a:rPr lang="en-US" sz="2400" dirty="0">
                <a:latin typeface="Gill Sans MT" pitchFamily="34" charset="0"/>
              </a:rPr>
              <a:t>response reports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b="1" dirty="0" smtClean="0">
                <a:latin typeface="Gill Sans MT" pitchFamily="34" charset="0"/>
              </a:rPr>
              <a:t>Functions</a:t>
            </a:r>
          </a:p>
          <a:p>
            <a:r>
              <a:rPr lang="en-US" sz="2400" dirty="0" smtClean="0">
                <a:latin typeface="Gill Sans MT" pitchFamily="34" charset="0"/>
              </a:rPr>
              <a:t>Assign Resource</a:t>
            </a:r>
          </a:p>
          <a:p>
            <a:r>
              <a:rPr lang="en-US" sz="2400" dirty="0" smtClean="0">
                <a:latin typeface="Gill Sans MT" pitchFamily="34" charset="0"/>
              </a:rPr>
              <a:t>Update Status</a:t>
            </a:r>
          </a:p>
          <a:p>
            <a:r>
              <a:rPr lang="en-US" sz="2400" dirty="0" smtClean="0">
                <a:latin typeface="Gill Sans MT" pitchFamily="34" charset="0"/>
              </a:rPr>
              <a:t>Complete Request</a:t>
            </a:r>
          </a:p>
          <a:p>
            <a:r>
              <a:rPr lang="en-US" sz="2400" dirty="0" smtClean="0">
                <a:latin typeface="Gill Sans MT" pitchFamily="34" charset="0"/>
              </a:rPr>
              <a:t>Generate </a:t>
            </a:r>
            <a:r>
              <a:rPr lang="en-US" sz="2400" dirty="0">
                <a:latin typeface="Gill Sans MT" pitchFamily="34" charset="0"/>
              </a:rPr>
              <a:t>Report</a:t>
            </a:r>
            <a:endParaRPr lang="en-US" sz="2400" dirty="0">
              <a:latin typeface="Gill Sans MT" pitchFamily="34" charset="0"/>
            </a:endParaRPr>
          </a:p>
        </p:txBody>
      </p:sp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629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SDG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411" y="11430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Gill Sans MT" pitchFamily="34" charset="0"/>
              </a:rPr>
              <a:t>SDG 3 – Good Health and </a:t>
            </a:r>
            <a:r>
              <a:rPr lang="en-US" sz="2400" b="1" dirty="0" smtClean="0">
                <a:latin typeface="Gill Sans MT" pitchFamily="34" charset="0"/>
              </a:rPr>
              <a:t>Well-being</a:t>
            </a:r>
            <a:endParaRPr lang="en-US" sz="2400" dirty="0" smtClean="0">
              <a:latin typeface="Gill Sans MT" pitchFamily="34" charset="0"/>
            </a:endParaRPr>
          </a:p>
          <a:p>
            <a:r>
              <a:rPr lang="en-US" sz="2400" dirty="0" smtClean="0">
                <a:latin typeface="Gill Sans MT" pitchFamily="34" charset="0"/>
              </a:rPr>
              <a:t>Reduces </a:t>
            </a:r>
            <a:r>
              <a:rPr lang="en-US" sz="2400" dirty="0">
                <a:latin typeface="Gill Sans MT" pitchFamily="34" charset="0"/>
              </a:rPr>
              <a:t>emergency response time. </a:t>
            </a:r>
          </a:p>
          <a:p>
            <a:r>
              <a:rPr lang="en-US" sz="2400" dirty="0">
                <a:latin typeface="Gill Sans MT" pitchFamily="34" charset="0"/>
              </a:rPr>
              <a:t>Improves ambulance allocation. </a:t>
            </a:r>
          </a:p>
          <a:p>
            <a:r>
              <a:rPr lang="en-US" sz="2400" dirty="0">
                <a:latin typeface="Gill Sans MT" pitchFamily="34" charset="0"/>
              </a:rPr>
              <a:t>Saves lives through faster medical assistance. </a:t>
            </a:r>
          </a:p>
          <a:p>
            <a:r>
              <a:rPr lang="en-US" sz="2400" b="1" dirty="0">
                <a:latin typeface="Gill Sans MT" pitchFamily="34" charset="0"/>
              </a:rPr>
              <a:t>SDG 9 – Industry, Innovation and Infrastructure</a:t>
            </a:r>
          </a:p>
          <a:p>
            <a:r>
              <a:rPr lang="en-US" sz="2400" dirty="0" smtClean="0">
                <a:latin typeface="Gill Sans MT" pitchFamily="34" charset="0"/>
              </a:rPr>
              <a:t>Uses </a:t>
            </a:r>
            <a:r>
              <a:rPr lang="en-US" sz="2400" dirty="0">
                <a:latin typeface="Gill Sans MT" pitchFamily="34" charset="0"/>
              </a:rPr>
              <a:t>advanced data structures. </a:t>
            </a:r>
          </a:p>
          <a:p>
            <a:r>
              <a:rPr lang="en-US" sz="2400" dirty="0">
                <a:latin typeface="Gill Sans MT" pitchFamily="34" charset="0"/>
              </a:rPr>
              <a:t>Improves emergency infrastructure. </a:t>
            </a:r>
          </a:p>
          <a:p>
            <a:r>
              <a:rPr lang="en-US" sz="2400" dirty="0">
                <a:latin typeface="Gill Sans MT" pitchFamily="34" charset="0"/>
              </a:rPr>
              <a:t>Supports intelligent transportation systems. </a:t>
            </a:r>
          </a:p>
          <a:p>
            <a:r>
              <a:rPr lang="en-US" sz="2400" b="1" dirty="0">
                <a:latin typeface="Gill Sans MT" pitchFamily="34" charset="0"/>
              </a:rPr>
              <a:t>SDG 11 – Sustainable Cities and Communities</a:t>
            </a:r>
          </a:p>
          <a:p>
            <a:r>
              <a:rPr lang="en-US" sz="2400" dirty="0" smtClean="0">
                <a:latin typeface="Gill Sans MT" pitchFamily="34" charset="0"/>
              </a:rPr>
              <a:t>Enhances </a:t>
            </a:r>
            <a:r>
              <a:rPr lang="en-US" sz="2400" dirty="0">
                <a:latin typeface="Gill Sans MT" pitchFamily="34" charset="0"/>
              </a:rPr>
              <a:t>smart city emergency management. </a:t>
            </a:r>
          </a:p>
          <a:p>
            <a:r>
              <a:rPr lang="en-US" sz="2400" dirty="0">
                <a:latin typeface="Gill Sans MT" pitchFamily="34" charset="0"/>
              </a:rPr>
              <a:t>Improves public safety. </a:t>
            </a:r>
          </a:p>
          <a:p>
            <a:r>
              <a:rPr lang="en-US" sz="2400" dirty="0">
                <a:latin typeface="Gill Sans MT" pitchFamily="34" charset="0"/>
              </a:rPr>
              <a:t>Optimizes emergency services for urban areas. </a:t>
            </a:r>
          </a:p>
        </p:txBody>
      </p:sp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718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Gill Sans MT" pitchFamily="34" charset="0"/>
              </a:rPr>
              <a:t>Developed an adaptive emergency allocation system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Used </a:t>
            </a:r>
            <a:r>
              <a:rPr lang="en-US" sz="2400" dirty="0">
                <a:latin typeface="Gill Sans MT" pitchFamily="34" charset="0"/>
              </a:rPr>
              <a:t>Dynamic Priority Queue for scheduling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Reduced </a:t>
            </a:r>
            <a:r>
              <a:rPr lang="en-US" sz="2400" dirty="0">
                <a:latin typeface="Gill Sans MT" pitchFamily="34" charset="0"/>
              </a:rPr>
              <a:t>response time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Improved </a:t>
            </a:r>
            <a:r>
              <a:rPr lang="en-US" sz="2400" dirty="0">
                <a:latin typeface="Gill Sans MT" pitchFamily="34" charset="0"/>
              </a:rPr>
              <a:t>resource management</a:t>
            </a:r>
            <a:r>
              <a:rPr lang="en-US" sz="2400" dirty="0" smtClean="0">
                <a:latin typeface="Gill Sans MT" pitchFamily="34" charset="0"/>
              </a:rPr>
              <a:t>.</a:t>
            </a:r>
          </a:p>
          <a:p>
            <a:r>
              <a:rPr lang="en-US" sz="2400" dirty="0" smtClean="0">
                <a:latin typeface="Gill Sans MT" pitchFamily="34" charset="0"/>
              </a:rPr>
              <a:t>Suitable </a:t>
            </a:r>
            <a:r>
              <a:rPr lang="en-US" sz="2400" dirty="0">
                <a:latin typeface="Gill Sans MT" pitchFamily="34" charset="0"/>
              </a:rPr>
              <a:t>for hospitals and smart cities.</a:t>
            </a:r>
            <a:endParaRPr lang="en-US" sz="2400" dirty="0">
              <a:latin typeface="Gill Sans MT" pitchFamily="34" charset="0"/>
            </a:endParaRPr>
          </a:p>
        </p:txBody>
      </p:sp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60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Chen, L., Wang, Y., &amp; Zhao, H., </a:t>
            </a:r>
            <a:r>
              <a:rPr lang="en-US" b="1" dirty="0"/>
              <a:t>"Dynamic Priority Queue-Based Emergency Resource Allocation for Smart Cities,"</a:t>
            </a:r>
            <a:r>
              <a:rPr lang="en-US" dirty="0"/>
              <a:t> </a:t>
            </a:r>
            <a:r>
              <a:rPr lang="en-US" i="1" dirty="0"/>
              <a:t>IEEE Access</a:t>
            </a:r>
            <a:r>
              <a:rPr lang="en-US" dirty="0"/>
              <a:t>, IEEE, 2024. </a:t>
            </a:r>
            <a:endParaRPr lang="en-US" dirty="0" smtClean="0"/>
          </a:p>
          <a:p>
            <a:r>
              <a:rPr lang="en-US" dirty="0" smtClean="0"/>
              <a:t>Kumar</a:t>
            </a:r>
            <a:r>
              <a:rPr lang="en-US" dirty="0"/>
              <a:t>, A., Singh, R., &amp; Sharma, P., </a:t>
            </a:r>
            <a:r>
              <a:rPr lang="en-US" b="1" dirty="0"/>
              <a:t>"Real-Time Emergency Dispatch and Resource Scheduling Using Heap-Based Priority Queues,"</a:t>
            </a:r>
            <a:r>
              <a:rPr lang="en-US" dirty="0"/>
              <a:t> </a:t>
            </a:r>
            <a:r>
              <a:rPr lang="en-US" i="1" dirty="0"/>
              <a:t>Journal of Systems and Software</a:t>
            </a:r>
            <a:r>
              <a:rPr lang="en-US" dirty="0"/>
              <a:t>, Elsevier, 2024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Patel, D., &amp; </a:t>
            </a:r>
            <a:r>
              <a:rPr lang="en-US" dirty="0" err="1"/>
              <a:t>Verma</a:t>
            </a:r>
            <a:r>
              <a:rPr lang="en-US" dirty="0"/>
              <a:t>, S., </a:t>
            </a:r>
            <a:r>
              <a:rPr lang="en-US" b="1" dirty="0"/>
              <a:t>"Adaptive Emergency Response System Using Dynamic Scheduling Algorithms,"</a:t>
            </a:r>
            <a:r>
              <a:rPr lang="en-US" dirty="0"/>
              <a:t> </a:t>
            </a:r>
            <a:r>
              <a:rPr lang="en-US" i="1" dirty="0"/>
              <a:t>Expert Systems with Applications</a:t>
            </a:r>
            <a:r>
              <a:rPr lang="en-US" dirty="0"/>
              <a:t>, Elsevier, 2025. </a:t>
            </a:r>
            <a:endParaRPr lang="en-US" dirty="0" smtClean="0"/>
          </a:p>
          <a:p>
            <a:r>
              <a:rPr lang="en-US" dirty="0" smtClean="0"/>
              <a:t>Li</a:t>
            </a:r>
            <a:r>
              <a:rPr lang="en-US" dirty="0"/>
              <a:t>, X., Zhang, H., &amp; Chen, Y., </a:t>
            </a:r>
            <a:r>
              <a:rPr lang="en-US" b="1" dirty="0"/>
              <a:t>"Priority-Based Ambulance Dispatch System for Smart Healthcare,"</a:t>
            </a:r>
            <a:r>
              <a:rPr lang="en-US" dirty="0"/>
              <a:t> </a:t>
            </a:r>
            <a:r>
              <a:rPr lang="en-US" i="1" dirty="0"/>
              <a:t>Future Generation Computer Systems</a:t>
            </a:r>
            <a:r>
              <a:rPr lang="en-US" dirty="0"/>
              <a:t>, Elsevier, 2025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Johnson, M., Brown, T., &amp; Clark, P., </a:t>
            </a:r>
            <a:r>
              <a:rPr lang="en-US" b="1" dirty="0"/>
              <a:t>"Optimization Techniques for Emergency Resource Allocation in Smart Cities,"</a:t>
            </a:r>
            <a:r>
              <a:rPr lang="en-US" dirty="0"/>
              <a:t> </a:t>
            </a:r>
            <a:r>
              <a:rPr lang="en-US" i="1" dirty="0"/>
              <a:t>Operational Research</a:t>
            </a:r>
            <a:r>
              <a:rPr lang="en-US" dirty="0"/>
              <a:t>, Springer, 2025.</a:t>
            </a:r>
            <a:endParaRPr lang="en-US" dirty="0">
              <a:latin typeface="Gill Sans MT" pitchFamily="34" charset="0"/>
            </a:endParaRPr>
          </a:p>
        </p:txBody>
      </p:sp>
      <p:pic>
        <p:nvPicPr>
          <p:cNvPr id="4" name="Picture 2" descr="Saveetha Institute of Medical and Technical Sciences -SIMATS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908050" cy="73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93" y="312575"/>
            <a:ext cx="737118" cy="65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310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Images - Free Download on Magnific (formerly Freepik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838200"/>
            <a:ext cx="6953250" cy="4920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18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661</Words>
  <Application>Microsoft Office PowerPoint</Application>
  <PresentationFormat>On-screen Show (4:3)</PresentationFormat>
  <Paragraphs>124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Adaptive Emergency Resource Allocation System Using Dynamic Priority Queues</vt:lpstr>
      <vt:lpstr>INTRODUCTION</vt:lpstr>
      <vt:lpstr>OBJECTIVES</vt:lpstr>
      <vt:lpstr>PROBLEM STATEMENT </vt:lpstr>
      <vt:lpstr>LITERATURE REVIEW</vt:lpstr>
      <vt:lpstr>PowerPoint Presentation</vt:lpstr>
      <vt:lpstr>Data Structure Used</vt:lpstr>
      <vt:lpstr>MODULE 1: EMERGENCY REQUEST MANAGEMENT</vt:lpstr>
      <vt:lpstr>MODULE 2: DYNAMIC PRIORITY QUEUE ENGINE</vt:lpstr>
      <vt:lpstr>MODULE 3:RESOURCE ALLOCATION &amp; MONITORING</vt:lpstr>
      <vt:lpstr>SDG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MALLIKHARJUNA</dc:creator>
  <cp:lastModifiedBy>MALLIKHARJUNA</cp:lastModifiedBy>
  <cp:revision>15</cp:revision>
  <dcterms:created xsi:type="dcterms:W3CDTF">2026-07-20T16:16:37Z</dcterms:created>
  <dcterms:modified xsi:type="dcterms:W3CDTF">2026-08-02T17:31:22Z</dcterms:modified>
</cp:coreProperties>
</file>